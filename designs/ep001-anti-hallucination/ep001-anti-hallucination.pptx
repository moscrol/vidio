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开发研究 Agent 时，我见过这种回复——「成交额加了 20%，属于健康分歧，明天会回流，A 是最强。」乍一看很专业。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拆开看：加了 20%，也许库里对得上，这是事实；健康分歧，已经是解释；明天回流，是预测；A 最强，是在替你做选择。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大模型在预测下一个词，流畅不等于真实。数字对了，也不能把后面整段一起升级成「可以下单的结论」。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所以我按五层挡：生成只写候选，外面要证据、代码校验、历史重放、人工金标准；再加一道权限——没验收的分数，不能自动写库。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客服、知识库、代码助手，同一套：先问它是事实、解释，还是动作。生成不是真相——错误要很难一路升到决策权。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你最近被 AI 哪一句「像真的」带偏过？评论区聊聊。架构演示，非投资建议。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685800"/>
            <a:ext cx="1301055" cy="495300"/>
          </a:xfrm>
          <a:prstGeom prst="roundRect">
            <a:avLst>
              <a:gd name="adj" fmla="val 50000"/>
            </a:avLst>
          </a:prstGeom>
          <a:solidFill>
            <a:srgbClr val="E8B54D">
              <a:alpha val="15000"/>
            </a:srgbClr>
          </a:solidFill>
          <a:ln w="9525">
            <a:solidFill>
              <a:srgbClr val="E8B54D">
                <a:alpha val="3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8675" y="790575"/>
            <a:ext cx="9391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案例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007102" y="533400"/>
            <a:ext cx="18226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9AA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架构演示 · 非投资建议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09600" y="1524000"/>
            <a:ext cx="9339834" cy="1476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开发研究 Agent 时</a:t>
            </a:r>
            <a:endParaRPr lang="en-US" sz="48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4800" b="1" spc="-96" kern="0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我见过这种回复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09600" y="3229273"/>
            <a:ext cx="902589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9AA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乍一看很专业。拆开才知道问题在哪。</a:t>
            </a:r>
            <a:endParaRPr lang="en-US" sz="2250" dirty="0"/>
          </a:p>
        </p:txBody>
      </p:sp>
      <p:sp>
        <p:nvSpPr>
          <p:cNvPr id="8" name="anim-s1-n0-k0"/>
          <p:cNvSpPr/>
          <p:nvPr/>
        </p:nvSpPr>
        <p:spPr>
          <a:xfrm>
            <a:off x="609600" y="4129385"/>
            <a:ext cx="9067800" cy="2184797"/>
          </a:xfrm>
          <a:prstGeom prst="roundRect">
            <a:avLst>
              <a:gd name="adj" fmla="val 12207"/>
            </a:avLst>
          </a:prstGeom>
          <a:solidFill>
            <a:srgbClr val="17233C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28000"/>
              </a:srgbClr>
            </a:outerShdw>
          </a:effectLst>
        </p:spPr>
      </p:sp>
      <p:sp>
        <p:nvSpPr>
          <p:cNvPr id="9" name="anim-s1-n0-k1"/>
          <p:cNvSpPr/>
          <p:nvPr/>
        </p:nvSpPr>
        <p:spPr>
          <a:xfrm>
            <a:off x="1000125" y="4519910"/>
            <a:ext cx="85353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输出 · 示意</a:t>
            </a:r>
            <a:endParaRPr lang="en-US" sz="1500" dirty="0"/>
          </a:p>
        </p:txBody>
      </p:sp>
      <p:sp>
        <p:nvSpPr>
          <p:cNvPr id="10" name="anim-s1-n0-k2"/>
          <p:cNvSpPr/>
          <p:nvPr/>
        </p:nvSpPr>
        <p:spPr>
          <a:xfrm>
            <a:off x="1000125" y="4958060"/>
            <a:ext cx="8535353" cy="10417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55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「储能成交额增加 20%，属于健康分歧，明天会回流，A 是最强标的。」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609600" y="17668875"/>
            <a:ext cx="1365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6D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 · 五层防幻觉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362629" y="17668875"/>
            <a:ext cx="39097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6D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6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2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685800"/>
            <a:ext cx="1548557" cy="495300"/>
          </a:xfrm>
          <a:prstGeom prst="roundRect">
            <a:avLst>
              <a:gd name="adj" fmla="val 50000"/>
            </a:avLst>
          </a:prstGeom>
          <a:solidFill>
            <a:srgbClr val="E8B54D">
              <a:alpha val="15000"/>
            </a:srgbClr>
          </a:solidFill>
          <a:ln w="9525">
            <a:solidFill>
              <a:srgbClr val="E8B54D">
                <a:alpha val="3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8675" y="790575"/>
            <a:ext cx="11866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拆开看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007102" y="533400"/>
            <a:ext cx="18226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9AA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架构演示 · 非投资建议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09600" y="1524000"/>
            <a:ext cx="9339834" cy="1476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同一句话里</a:t>
            </a:r>
            <a:endParaRPr lang="en-US" sz="48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</a:t>
            </a:r>
            <a:pPr algn="l" indent="0" marL="0">
              <a:lnSpc>
                <a:spcPct val="118000"/>
              </a:lnSpc>
              <a:buNone/>
            </a:pPr>
            <a:r>
              <a:rPr lang="en-US" sz="4800" b="1" spc="-96" kern="0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四种地位</a:t>
            </a:r>
            <a:endParaRPr lang="en-US" sz="4800" dirty="0"/>
          </a:p>
        </p:txBody>
      </p:sp>
      <p:sp>
        <p:nvSpPr>
          <p:cNvPr id="7" name="anim-s2-n0-k0"/>
          <p:cNvSpPr/>
          <p:nvPr/>
        </p:nvSpPr>
        <p:spPr>
          <a:xfrm>
            <a:off x="609600" y="3610273"/>
            <a:ext cx="9067800" cy="1028700"/>
          </a:xfrm>
          <a:prstGeom prst="roundRect">
            <a:avLst>
              <a:gd name="adj" fmla="val 18519"/>
            </a:avLst>
          </a:prstGeom>
          <a:solidFill>
            <a:srgbClr val="17233C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anim-s2-n0-k1"/>
          <p:cNvSpPr/>
          <p:nvPr/>
        </p:nvSpPr>
        <p:spPr>
          <a:xfrm>
            <a:off x="885825" y="3944541"/>
            <a:ext cx="712812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成交额增加 20%</a:t>
            </a:r>
            <a:endParaRPr lang="en-US" sz="2100" dirty="0"/>
          </a:p>
        </p:txBody>
      </p:sp>
      <p:sp>
        <p:nvSpPr>
          <p:cNvPr id="9" name="anim-s2-n0-k2"/>
          <p:cNvSpPr/>
          <p:nvPr/>
        </p:nvSpPr>
        <p:spPr>
          <a:xfrm>
            <a:off x="7996833" y="3886498"/>
            <a:ext cx="1404342" cy="476250"/>
          </a:xfrm>
          <a:prstGeom prst="roundRect">
            <a:avLst>
              <a:gd name="adj" fmla="val 24000"/>
            </a:avLst>
          </a:prstGeom>
          <a:solidFill>
            <a:srgbClr val="3ECF8E">
              <a:alpha val="14000"/>
            </a:srgbClr>
          </a:solidFill>
          <a:ln/>
        </p:spPr>
      </p:sp>
      <p:sp>
        <p:nvSpPr>
          <p:cNvPr id="10" name="anim-s2-n0-k3"/>
          <p:cNvSpPr/>
          <p:nvPr/>
        </p:nvSpPr>
        <p:spPr>
          <a:xfrm>
            <a:off x="8168283" y="3981748"/>
            <a:ext cx="1137642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可核验事实</a:t>
            </a:r>
            <a:endParaRPr lang="en-US" sz="1650" dirty="0"/>
          </a:p>
        </p:txBody>
      </p:sp>
      <p:sp>
        <p:nvSpPr>
          <p:cNvPr id="11" name="anim-s2-n1-k0"/>
          <p:cNvSpPr/>
          <p:nvPr/>
        </p:nvSpPr>
        <p:spPr>
          <a:xfrm>
            <a:off x="609600" y="4810423"/>
            <a:ext cx="9067800" cy="1028700"/>
          </a:xfrm>
          <a:prstGeom prst="roundRect">
            <a:avLst>
              <a:gd name="adj" fmla="val 18519"/>
            </a:avLst>
          </a:prstGeom>
          <a:solidFill>
            <a:srgbClr val="17233C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anim-s2-n1-k1"/>
          <p:cNvSpPr/>
          <p:nvPr/>
        </p:nvSpPr>
        <p:spPr>
          <a:xfrm>
            <a:off x="885825" y="5144691"/>
            <a:ext cx="734671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属于健康分歧</a:t>
            </a:r>
            <a:endParaRPr lang="en-US" sz="2100" dirty="0"/>
          </a:p>
        </p:txBody>
      </p:sp>
      <p:sp>
        <p:nvSpPr>
          <p:cNvPr id="13" name="anim-s2-n1-k2"/>
          <p:cNvSpPr/>
          <p:nvPr/>
        </p:nvSpPr>
        <p:spPr>
          <a:xfrm>
            <a:off x="8209062" y="5086648"/>
            <a:ext cx="1192113" cy="476250"/>
          </a:xfrm>
          <a:prstGeom prst="roundRect">
            <a:avLst>
              <a:gd name="adj" fmla="val 24000"/>
            </a:avLst>
          </a:prstGeom>
          <a:solidFill>
            <a:srgbClr val="E8B54D">
              <a:alpha val="14000"/>
            </a:srgbClr>
          </a:solidFill>
          <a:ln/>
        </p:spPr>
      </p:sp>
      <p:sp>
        <p:nvSpPr>
          <p:cNvPr id="14" name="anim-s2-n1-k3"/>
          <p:cNvSpPr/>
          <p:nvPr/>
        </p:nvSpPr>
        <p:spPr>
          <a:xfrm>
            <a:off x="8380512" y="5181898"/>
            <a:ext cx="925413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仍是解释</a:t>
            </a:r>
            <a:endParaRPr lang="en-US" sz="1650" dirty="0"/>
          </a:p>
        </p:txBody>
      </p:sp>
      <p:sp>
        <p:nvSpPr>
          <p:cNvPr id="15" name="anim-s2-n2-k0"/>
          <p:cNvSpPr/>
          <p:nvPr/>
        </p:nvSpPr>
        <p:spPr>
          <a:xfrm>
            <a:off x="609600" y="6010573"/>
            <a:ext cx="9067800" cy="1028700"/>
          </a:xfrm>
          <a:prstGeom prst="roundRect">
            <a:avLst>
              <a:gd name="adj" fmla="val 18519"/>
            </a:avLst>
          </a:prstGeom>
          <a:solidFill>
            <a:srgbClr val="17233C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anim-s2-n2-k1"/>
          <p:cNvSpPr/>
          <p:nvPr/>
        </p:nvSpPr>
        <p:spPr>
          <a:xfrm>
            <a:off x="885825" y="6344841"/>
            <a:ext cx="778406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明天会回流</a:t>
            </a:r>
            <a:endParaRPr lang="en-US" sz="2100" dirty="0"/>
          </a:p>
        </p:txBody>
      </p:sp>
      <p:sp>
        <p:nvSpPr>
          <p:cNvPr id="17" name="anim-s2-n2-k2"/>
          <p:cNvSpPr/>
          <p:nvPr/>
        </p:nvSpPr>
        <p:spPr>
          <a:xfrm>
            <a:off x="8633668" y="6286798"/>
            <a:ext cx="767507" cy="476250"/>
          </a:xfrm>
          <a:prstGeom prst="roundRect">
            <a:avLst>
              <a:gd name="adj" fmla="val 24000"/>
            </a:avLst>
          </a:prstGeom>
          <a:solidFill>
            <a:srgbClr val="F07178">
              <a:alpha val="14000"/>
            </a:srgbClr>
          </a:solidFill>
          <a:ln/>
        </p:spPr>
      </p:sp>
      <p:sp>
        <p:nvSpPr>
          <p:cNvPr id="18" name="anim-s2-n2-k3"/>
          <p:cNvSpPr/>
          <p:nvPr/>
        </p:nvSpPr>
        <p:spPr>
          <a:xfrm>
            <a:off x="8805118" y="6382048"/>
            <a:ext cx="500807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0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</a:t>
            </a:r>
            <a:endParaRPr lang="en-US" sz="1650" dirty="0"/>
          </a:p>
        </p:txBody>
      </p:sp>
      <p:sp>
        <p:nvSpPr>
          <p:cNvPr id="19" name="anim-s2-n3-k0"/>
          <p:cNvSpPr/>
          <p:nvPr/>
        </p:nvSpPr>
        <p:spPr>
          <a:xfrm>
            <a:off x="609600" y="7210723"/>
            <a:ext cx="9067800" cy="1028700"/>
          </a:xfrm>
          <a:prstGeom prst="roundRect">
            <a:avLst>
              <a:gd name="adj" fmla="val 18519"/>
            </a:avLst>
          </a:prstGeom>
          <a:solidFill>
            <a:srgbClr val="17233C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anim-s2-n3-k1"/>
          <p:cNvSpPr/>
          <p:nvPr/>
        </p:nvSpPr>
        <p:spPr>
          <a:xfrm>
            <a:off x="885825" y="7544991"/>
            <a:ext cx="718821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是最强标的</a:t>
            </a:r>
            <a:endParaRPr lang="en-US" sz="2100" dirty="0"/>
          </a:p>
        </p:txBody>
      </p:sp>
      <p:sp>
        <p:nvSpPr>
          <p:cNvPr id="21" name="anim-s2-n3-k2"/>
          <p:cNvSpPr/>
          <p:nvPr/>
        </p:nvSpPr>
        <p:spPr>
          <a:xfrm>
            <a:off x="8055173" y="7486948"/>
            <a:ext cx="1346002" cy="476250"/>
          </a:xfrm>
          <a:prstGeom prst="roundRect">
            <a:avLst>
              <a:gd name="adj" fmla="val 24000"/>
            </a:avLst>
          </a:prstGeom>
          <a:solidFill>
            <a:srgbClr val="F07178">
              <a:alpha val="14000"/>
            </a:srgbClr>
          </a:solidFill>
          <a:ln/>
        </p:spPr>
      </p:sp>
      <p:sp>
        <p:nvSpPr>
          <p:cNvPr id="22" name="anim-s2-n3-k3"/>
          <p:cNvSpPr/>
          <p:nvPr/>
        </p:nvSpPr>
        <p:spPr>
          <a:xfrm>
            <a:off x="8226623" y="7582198"/>
            <a:ext cx="1079302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0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 / 建议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609600" y="17668875"/>
            <a:ext cx="1365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6D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 · 五层防幻觉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9338816" y="17668875"/>
            <a:ext cx="41478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6D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2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6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22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685800"/>
            <a:ext cx="1333500" cy="495300"/>
          </a:xfrm>
          <a:prstGeom prst="roundRect">
            <a:avLst>
              <a:gd name="adj" fmla="val 50000"/>
            </a:avLst>
          </a:prstGeom>
          <a:solidFill>
            <a:srgbClr val="E8B54D">
              <a:alpha val="15000"/>
            </a:srgbClr>
          </a:solidFill>
          <a:ln w="9525">
            <a:solidFill>
              <a:srgbClr val="E8B54D">
                <a:alpha val="3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8675" y="790575"/>
            <a:ext cx="9715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金句</a:t>
            </a:r>
            <a:endParaRPr lang="en-US" sz="1650" dirty="0"/>
          </a:p>
        </p:txBody>
      </p:sp>
      <p:sp>
        <p:nvSpPr>
          <p:cNvPr id="5" name="anim-s3-n0-k0"/>
          <p:cNvSpPr/>
          <p:nvPr/>
        </p:nvSpPr>
        <p:spPr>
          <a:xfrm>
            <a:off x="609600" y="7886700"/>
            <a:ext cx="217571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b="1" spc="-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数字对了</a:t>
            </a:r>
            <a:endParaRPr lang="en-US" sz="4200" dirty="0"/>
          </a:p>
        </p:txBody>
      </p:sp>
      <p:sp>
        <p:nvSpPr>
          <p:cNvPr id="6" name="anim-s3-n0-k1"/>
          <p:cNvSpPr/>
          <p:nvPr/>
        </p:nvSpPr>
        <p:spPr>
          <a:xfrm>
            <a:off x="609600" y="8648700"/>
            <a:ext cx="933983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b="1" spc="-84" kern="0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也不能一起升级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09600" y="9658350"/>
            <a:ext cx="933983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AA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大模型在预测下一个词。</a:t>
            </a:r>
            <a:endParaRPr lang="en-US" sz="2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AA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流畅 ≠ 真实 · 意见 ≠ 决策权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09600" y="17668875"/>
            <a:ext cx="1365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6D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 · 五层防幻觉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334649" y="17668875"/>
            <a:ext cx="41895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6D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700" fill="hold"/>
                                        <p:tgtEl>
                                          <p:spTgt spid="5"/>
                                        </p:tgtEl>
                                      </p:cBhvr>
                                      <p:from x="10000" y="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700" fill="hold"/>
                                        <p:tgtEl>
                                          <p:spTgt spid="6"/>
                                        </p:tgtEl>
                                      </p:cBhvr>
                                      <p:from x="10000" y="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685800"/>
            <a:ext cx="1337518" cy="495300"/>
          </a:xfrm>
          <a:prstGeom prst="roundRect">
            <a:avLst>
              <a:gd name="adj" fmla="val 50000"/>
            </a:avLst>
          </a:prstGeom>
          <a:solidFill>
            <a:srgbClr val="E8B54D">
              <a:alpha val="15000"/>
            </a:srgbClr>
          </a:solidFill>
          <a:ln w="9525">
            <a:solidFill>
              <a:srgbClr val="E8B54D">
                <a:alpha val="3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8675" y="790575"/>
            <a:ext cx="9755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通式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09600" y="1524000"/>
            <a:ext cx="9339834" cy="622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所以我按</a:t>
            </a:r>
            <a:pPr algn="l" indent="0" marL="0">
              <a:lnSpc>
                <a:spcPct val="118000"/>
              </a:lnSpc>
              <a:buNone/>
            </a:pPr>
            <a:r>
              <a:rPr lang="en-US" sz="3900" b="1" spc="-78" kern="0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五层</a:t>
            </a:r>
            <a:pPr algn="l" indent="0" marL="0">
              <a:lnSpc>
                <a:spcPct val="118000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挡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09600" y="2222748"/>
            <a:ext cx="902589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9AA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生成只写候选，再逐级升级</a:t>
            </a:r>
            <a:endParaRPr lang="en-US" sz="1800" dirty="0"/>
          </a:p>
        </p:txBody>
      </p:sp>
      <p:sp>
        <p:nvSpPr>
          <p:cNvPr id="7" name="anim-s4-n0-k0"/>
          <p:cNvSpPr/>
          <p:nvPr/>
        </p:nvSpPr>
        <p:spPr>
          <a:xfrm>
            <a:off x="609600" y="2919859"/>
            <a:ext cx="9067800" cy="1019175"/>
          </a:xfrm>
          <a:prstGeom prst="roundRect">
            <a:avLst>
              <a:gd name="adj" fmla="val 1495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anim-s4-n0-k1"/>
          <p:cNvSpPr/>
          <p:nvPr/>
        </p:nvSpPr>
        <p:spPr>
          <a:xfrm>
            <a:off x="790575" y="3272284"/>
            <a:ext cx="609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anim-s4-n0-k2"/>
          <p:cNvSpPr/>
          <p:nvPr/>
        </p:nvSpPr>
        <p:spPr>
          <a:xfrm>
            <a:off x="1533525" y="3100834"/>
            <a:ext cx="816254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生成器</a:t>
            </a:r>
            <a:endParaRPr lang="en-US" sz="1950" dirty="0"/>
          </a:p>
        </p:txBody>
      </p:sp>
      <p:sp>
        <p:nvSpPr>
          <p:cNvPr id="10" name="anim-s4-n0-k3"/>
          <p:cNvSpPr/>
          <p:nvPr/>
        </p:nvSpPr>
        <p:spPr>
          <a:xfrm>
            <a:off x="1533525" y="3491359"/>
            <a:ext cx="81625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AA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写候选，不宣布终审</a:t>
            </a:r>
            <a:endParaRPr lang="en-US" sz="1500" dirty="0"/>
          </a:p>
        </p:txBody>
      </p:sp>
      <p:sp>
        <p:nvSpPr>
          <p:cNvPr id="11" name="anim-s4-n1-k0"/>
          <p:cNvSpPr/>
          <p:nvPr/>
        </p:nvSpPr>
        <p:spPr>
          <a:xfrm>
            <a:off x="609600" y="4072384"/>
            <a:ext cx="9067800" cy="1019175"/>
          </a:xfrm>
          <a:prstGeom prst="roundRect">
            <a:avLst>
              <a:gd name="adj" fmla="val 1495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anim-s4-n1-k1"/>
          <p:cNvSpPr/>
          <p:nvPr/>
        </p:nvSpPr>
        <p:spPr>
          <a:xfrm>
            <a:off x="790575" y="4424809"/>
            <a:ext cx="609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anim-s4-n1-k2"/>
          <p:cNvSpPr/>
          <p:nvPr/>
        </p:nvSpPr>
        <p:spPr>
          <a:xfrm>
            <a:off x="1533525" y="4253359"/>
            <a:ext cx="816254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数据证据</a:t>
            </a:r>
            <a:endParaRPr lang="en-US" sz="1950" dirty="0"/>
          </a:p>
        </p:txBody>
      </p:sp>
      <p:sp>
        <p:nvSpPr>
          <p:cNvPr id="14" name="anim-s4-n1-k3"/>
          <p:cNvSpPr/>
          <p:nvPr/>
        </p:nvSpPr>
        <p:spPr>
          <a:xfrm>
            <a:off x="1533525" y="4643884"/>
            <a:ext cx="81625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AA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对齐外部可追溯记录</a:t>
            </a:r>
            <a:endParaRPr lang="en-US" sz="1500" dirty="0"/>
          </a:p>
        </p:txBody>
      </p:sp>
      <p:sp>
        <p:nvSpPr>
          <p:cNvPr id="15" name="anim-s4-n2-k0"/>
          <p:cNvSpPr/>
          <p:nvPr/>
        </p:nvSpPr>
        <p:spPr>
          <a:xfrm>
            <a:off x="609600" y="5224909"/>
            <a:ext cx="9067800" cy="1019175"/>
          </a:xfrm>
          <a:prstGeom prst="roundRect">
            <a:avLst>
              <a:gd name="adj" fmla="val 1495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anim-s4-n2-k1"/>
          <p:cNvSpPr/>
          <p:nvPr/>
        </p:nvSpPr>
        <p:spPr>
          <a:xfrm>
            <a:off x="790575" y="5577334"/>
            <a:ext cx="609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anim-s4-n2-k2"/>
          <p:cNvSpPr/>
          <p:nvPr/>
        </p:nvSpPr>
        <p:spPr>
          <a:xfrm>
            <a:off x="1533525" y="5405884"/>
            <a:ext cx="816254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确定性校验</a:t>
            </a:r>
            <a:endParaRPr lang="en-US" sz="1950" dirty="0"/>
          </a:p>
        </p:txBody>
      </p:sp>
      <p:sp>
        <p:nvSpPr>
          <p:cNvPr id="18" name="anim-s4-n2-k3"/>
          <p:cNvSpPr/>
          <p:nvPr/>
        </p:nvSpPr>
        <p:spPr>
          <a:xfrm>
            <a:off x="1533525" y="5796409"/>
            <a:ext cx="81625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AA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同输入 → 同检查结果</a:t>
            </a:r>
            <a:endParaRPr lang="en-US" sz="1500" dirty="0"/>
          </a:p>
        </p:txBody>
      </p:sp>
      <p:sp>
        <p:nvSpPr>
          <p:cNvPr id="19" name="anim-s4-n3-k0"/>
          <p:cNvSpPr/>
          <p:nvPr/>
        </p:nvSpPr>
        <p:spPr>
          <a:xfrm>
            <a:off x="609600" y="6377434"/>
            <a:ext cx="9067800" cy="1019175"/>
          </a:xfrm>
          <a:prstGeom prst="roundRect">
            <a:avLst>
              <a:gd name="adj" fmla="val 1495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anim-s4-n3-k1"/>
          <p:cNvSpPr/>
          <p:nvPr/>
        </p:nvSpPr>
        <p:spPr>
          <a:xfrm>
            <a:off x="790575" y="6729859"/>
            <a:ext cx="609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21" name="anim-s4-n3-k2"/>
          <p:cNvSpPr/>
          <p:nvPr/>
        </p:nvSpPr>
        <p:spPr>
          <a:xfrm>
            <a:off x="1533525" y="6558409"/>
            <a:ext cx="816254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历史重放</a:t>
            </a:r>
            <a:endParaRPr lang="en-US" sz="1950" dirty="0"/>
          </a:p>
        </p:txBody>
      </p:sp>
      <p:sp>
        <p:nvSpPr>
          <p:cNvPr id="22" name="anim-s4-n3-k3"/>
          <p:cNvSpPr/>
          <p:nvPr/>
        </p:nvSpPr>
        <p:spPr>
          <a:xfrm>
            <a:off x="1533525" y="6948934"/>
            <a:ext cx="81625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AA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禁止偷看当时不可知信息</a:t>
            </a:r>
            <a:endParaRPr lang="en-US" sz="1500" dirty="0"/>
          </a:p>
        </p:txBody>
      </p:sp>
      <p:sp>
        <p:nvSpPr>
          <p:cNvPr id="23" name="anim-s4-n4-k0"/>
          <p:cNvSpPr/>
          <p:nvPr/>
        </p:nvSpPr>
        <p:spPr>
          <a:xfrm>
            <a:off x="609600" y="7529959"/>
            <a:ext cx="9067800" cy="1019175"/>
          </a:xfrm>
          <a:prstGeom prst="roundRect">
            <a:avLst>
              <a:gd name="adj" fmla="val 1495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anim-s4-n4-k1"/>
          <p:cNvSpPr/>
          <p:nvPr/>
        </p:nvSpPr>
        <p:spPr>
          <a:xfrm>
            <a:off x="790575" y="7882384"/>
            <a:ext cx="609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25" name="anim-s4-n4-k2"/>
          <p:cNvSpPr/>
          <p:nvPr/>
        </p:nvSpPr>
        <p:spPr>
          <a:xfrm>
            <a:off x="1533525" y="7710934"/>
            <a:ext cx="816254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人工金标准</a:t>
            </a:r>
            <a:endParaRPr lang="en-US" sz="1950" dirty="0"/>
          </a:p>
        </p:txBody>
      </p:sp>
      <p:sp>
        <p:nvSpPr>
          <p:cNvPr id="26" name="anim-s4-n4-k3"/>
          <p:cNvSpPr/>
          <p:nvPr/>
        </p:nvSpPr>
        <p:spPr>
          <a:xfrm>
            <a:off x="1533525" y="8101459"/>
            <a:ext cx="81625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AA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模糊边界与争议样本</a:t>
            </a:r>
            <a:endParaRPr lang="en-US" sz="1500" dirty="0"/>
          </a:p>
        </p:txBody>
      </p:sp>
      <p:sp>
        <p:nvSpPr>
          <p:cNvPr id="27" name="anim-s4-n5-k0"/>
          <p:cNvSpPr/>
          <p:nvPr/>
        </p:nvSpPr>
        <p:spPr>
          <a:xfrm>
            <a:off x="609600" y="8701534"/>
            <a:ext cx="9067800" cy="1207740"/>
          </a:xfrm>
          <a:prstGeom prst="roundRect">
            <a:avLst>
              <a:gd name="adj" fmla="val 14196"/>
            </a:avLst>
          </a:prstGeom>
          <a:solidFill>
            <a:srgbClr val="E8B54D">
              <a:alpha val="15000"/>
            </a:srgbClr>
          </a:solidFill>
          <a:ln w="19050">
            <a:solidFill>
              <a:srgbClr val="E8B54D">
                <a:alpha val="45000"/>
              </a:srgbClr>
            </a:solidFill>
            <a:prstDash val="solid"/>
          </a:ln>
        </p:spPr>
      </p:sp>
      <p:sp>
        <p:nvSpPr>
          <p:cNvPr id="28" name="anim-s4-n5-k1"/>
          <p:cNvSpPr/>
          <p:nvPr/>
        </p:nvSpPr>
        <p:spPr>
          <a:xfrm>
            <a:off x="857250" y="8930134"/>
            <a:ext cx="88296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权限 authority</a:t>
            </a:r>
            <a:endParaRPr lang="en-US" sz="2100" dirty="0"/>
          </a:p>
        </p:txBody>
      </p:sp>
      <p:sp>
        <p:nvSpPr>
          <p:cNvPr id="29" name="anim-s4-n5-k2"/>
          <p:cNvSpPr/>
          <p:nvPr/>
        </p:nvSpPr>
        <p:spPr>
          <a:xfrm>
            <a:off x="857250" y="9387334"/>
            <a:ext cx="8829675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D8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没验收的分数，不能自动写库、不能当硬闸门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609600" y="17668875"/>
            <a:ext cx="1365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6D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 · 五层防幻觉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9331970" y="17668875"/>
            <a:ext cx="42163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6D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8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4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98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8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72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685800"/>
            <a:ext cx="1553021" cy="495300"/>
          </a:xfrm>
          <a:prstGeom prst="roundRect">
            <a:avLst>
              <a:gd name="adj" fmla="val 50000"/>
            </a:avLst>
          </a:prstGeom>
          <a:solidFill>
            <a:srgbClr val="E8B54D">
              <a:alpha val="15000"/>
            </a:srgbClr>
          </a:solidFill>
          <a:ln w="9525">
            <a:solidFill>
              <a:srgbClr val="E8B54D">
                <a:alpha val="3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8675" y="790575"/>
            <a:ext cx="119107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可复用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09600" y="1524000"/>
            <a:ext cx="9339834" cy="757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同一套问题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600" y="2509986"/>
            <a:ext cx="902589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9AA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先问它是事实、解释，还是动作。</a:t>
            </a:r>
            <a:endParaRPr lang="en-US" sz="2250" dirty="0"/>
          </a:p>
        </p:txBody>
      </p:sp>
      <p:sp>
        <p:nvSpPr>
          <p:cNvPr id="7" name="anim-s5-n0-k0"/>
          <p:cNvSpPr/>
          <p:nvPr/>
        </p:nvSpPr>
        <p:spPr>
          <a:xfrm>
            <a:off x="609600" y="3410099"/>
            <a:ext cx="1785193" cy="676275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anim-s5-n0-k1"/>
          <p:cNvSpPr/>
          <p:nvPr/>
        </p:nvSpPr>
        <p:spPr>
          <a:xfrm>
            <a:off x="885825" y="3572024"/>
            <a:ext cx="13089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 Agent</a:t>
            </a:r>
            <a:endParaRPr lang="en-US" sz="1950" dirty="0"/>
          </a:p>
        </p:txBody>
      </p:sp>
      <p:sp>
        <p:nvSpPr>
          <p:cNvPr id="9" name="anim-s5-n1-k0"/>
          <p:cNvSpPr/>
          <p:nvPr/>
        </p:nvSpPr>
        <p:spPr>
          <a:xfrm>
            <a:off x="2547193" y="3410099"/>
            <a:ext cx="1806922" cy="676275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anim-s5-n1-k1"/>
          <p:cNvSpPr/>
          <p:nvPr/>
        </p:nvSpPr>
        <p:spPr>
          <a:xfrm>
            <a:off x="2823418" y="3572024"/>
            <a:ext cx="133067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企业知识库</a:t>
            </a:r>
            <a:endParaRPr lang="en-US" sz="1950" dirty="0"/>
          </a:p>
        </p:txBody>
      </p:sp>
      <p:sp>
        <p:nvSpPr>
          <p:cNvPr id="11" name="anim-s5-n2-k0"/>
          <p:cNvSpPr/>
          <p:nvPr/>
        </p:nvSpPr>
        <p:spPr>
          <a:xfrm>
            <a:off x="4506516" y="3410099"/>
            <a:ext cx="1555998" cy="676275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anim-s5-n2-k1"/>
          <p:cNvSpPr/>
          <p:nvPr/>
        </p:nvSpPr>
        <p:spPr>
          <a:xfrm>
            <a:off x="4782741" y="3572024"/>
            <a:ext cx="107974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代码助手</a:t>
            </a:r>
            <a:endParaRPr lang="en-US" sz="1950" dirty="0"/>
          </a:p>
        </p:txBody>
      </p:sp>
      <p:sp>
        <p:nvSpPr>
          <p:cNvPr id="13" name="anim-s5-n3-k0"/>
          <p:cNvSpPr/>
          <p:nvPr/>
        </p:nvSpPr>
        <p:spPr>
          <a:xfrm>
            <a:off x="6214914" y="3410099"/>
            <a:ext cx="1785193" cy="676275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anim-s5-n3-k1"/>
          <p:cNvSpPr/>
          <p:nvPr/>
        </p:nvSpPr>
        <p:spPr>
          <a:xfrm>
            <a:off x="6491139" y="3572024"/>
            <a:ext cx="130894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 Agent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09600" y="4619774"/>
            <a:ext cx="933983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AA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生成不是真相 —— 错误要很难一路升到决策权。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09600" y="17668875"/>
            <a:ext cx="1365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6D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 · 五层防幻觉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9336137" y="17668875"/>
            <a:ext cx="4174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6D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8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4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98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685800"/>
            <a:ext cx="1337816" cy="495300"/>
          </a:xfrm>
          <a:prstGeom prst="roundRect">
            <a:avLst>
              <a:gd name="adj" fmla="val 50000"/>
            </a:avLst>
          </a:prstGeom>
          <a:solidFill>
            <a:srgbClr val="E8B54D">
              <a:alpha val="15000"/>
            </a:srgbClr>
          </a:solidFill>
          <a:ln w="9525">
            <a:solidFill>
              <a:srgbClr val="E8B54D">
                <a:alpha val="3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8675" y="790575"/>
            <a:ext cx="9758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spc="66" kern="0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讨论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09600" y="8086725"/>
            <a:ext cx="280556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b="1" spc="-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你最近被 AI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09600" y="8848725"/>
            <a:ext cx="933983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b="1" spc="-84" kern="0" dirty="0">
                <a:solidFill>
                  <a:srgbClr val="E8B5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哪一句「像真的」带偏过？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09600" y="9858375"/>
            <a:ext cx="933983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9AA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评论区聊聊 · 不求关注 · 非投资建议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09600" y="17668875"/>
            <a:ext cx="13652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6D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 · 五层防幻觉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332863" y="17668875"/>
            <a:ext cx="42073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D6D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2026-07-11T13:19:17Z</dcterms:created>
  <dcterms:modified xsi:type="dcterms:W3CDTF">2026-07-11T13:19:17Z</dcterms:modified>
</cp:coreProperties>
</file>